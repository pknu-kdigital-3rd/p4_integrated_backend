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 통합 ITS 플랫폼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FE3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설계 문서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E1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요구사항 · 요구사항 분석 · 유스케이스 · SRS · 아키텍처 · 데이터베이스 · 컴포넌트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3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2026-10-02  ·  기준: optimize_virtual 브랜치 (커밋 1d1a16a)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지역 차량의 위치·경로·카메라 위험 탐지·운행 영상을 한 화면에서 관제하고, 가상 배차를 시뮬레이션한다.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E3F2F2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533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서브시스템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91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 · Routing · Relay · Vision · 웹 · Android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3533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유스케이스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3591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· 단말 · 영상 · 가상 배차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3533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요구사항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3591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23 · 비기능 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234440"/>
            <a:ext cx="1920240" cy="1600200"/>
          </a:xfrm>
          <a:prstGeom prst="roundRect">
            <a:avLst>
              <a:gd name="adj" fmla="val 3429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13533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테이블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35915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운행 15 · 가상 배차 10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3474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경계에서 통합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32688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서비스는 런타임을 분리하고 HTTP·WebRTC로만 연결한다.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64408" y="3493008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64408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739896" y="3474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영상은 Node 우회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739896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영상·추론은 업무 백엔드와 DB COMMIT을 거치지 않는다.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71616" y="3493008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71616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547104" y="3474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소유자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547104" y="3749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영속 데이터는 Node, 계산·일시 상태는 Routing이 소유한다.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요구사항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이해관계자 5그룹, 요구사항 14개 (전체 목록은 부록 A)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887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18872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1887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계정·차량 등록/삭제, 권한 통제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8745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운영자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187452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OPERATOR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18745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생성, 실시간 관제, 가상 배차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5603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256032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VIEWER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2560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지도·영상·이력 읽기 전용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2461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단말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324612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606040" y="32461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영상·GPS/IMU 송출, 운행 시작/종료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3749040" cy="566928"/>
          </a:xfrm>
          <a:prstGeom prst="roundRect">
            <a:avLst>
              <a:gd name="adj" fmla="val 9677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9319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BIMS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393192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606040" y="39319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실시간·재생 버스 위치 제공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원하는 것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14813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지도에서 모든 차량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17099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BIMS 버스·자체 트럭·가상 차량 위치, 계획 경로 vs 실제 궤적 (UR-02, 03)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20299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화물차 제약 경로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2258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높이·중량·너비·회전 제한을 반영한 최적 경로 (UR-04)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2578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위험 탐지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2807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영상 + YOLO 박스·분할·거리, 클래스별 표시 (UR-05, 06)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31272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녹화와 동기화 재생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0" y="3355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영상·탐지·GPS를 같은 시간축으로 재생 (UR-07)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36758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 단절 대응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0" y="3904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표시, 선택적 기록 경로 보정, 소스 전환 (UR-08, 09)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0" y="42245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배차·도로 통제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0" y="4453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미리보기, 배차 요청, 정체/차단 구역, 경유지 (UR-10~12)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분석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요구를 7개 기능 영역으로 묶고, 영역마다 소유 서비스를 하나로 정한다.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38528" cy="777240"/>
          </a:xfrm>
          <a:prstGeom prst="roundRect">
            <a:avLst>
              <a:gd name="adj" fmla="val 7059"/>
            </a:avLst>
          </a:prstGeom>
          <a:solidFill>
            <a:srgbClr val="E3F2F2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인증·권한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Node/Express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42032" y="1188720"/>
            <a:ext cx="1938528" cy="777240"/>
          </a:xfrm>
          <a:prstGeom prst="roundRect">
            <a:avLst>
              <a:gd name="adj" fmla="val 7059"/>
            </a:avLst>
          </a:prstGeom>
          <a:solidFill>
            <a:srgbClr val="E3F2F2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차량·운행·경로 관리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 + PostGIS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913632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1188720"/>
            <a:ext cx="1938528" cy="777240"/>
          </a:xfrm>
          <a:prstGeom prst="roundRect">
            <a:avLst>
              <a:gd name="adj" fmla="val 7059"/>
            </a:avLst>
          </a:prstGeom>
          <a:solidFill>
            <a:srgbClr val="E3F2F2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추적·경로 탐색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36592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Routing/Tracking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998464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11696" y="1188720"/>
            <a:ext cx="1938528" cy="777240"/>
          </a:xfrm>
          <a:prstGeom prst="roundRect">
            <a:avLst>
              <a:gd name="adj" fmla="val 7059"/>
            </a:avLst>
          </a:prstGeom>
          <a:solidFill>
            <a:srgbClr val="E3F2F2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21424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영상·AI 탐지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21424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Relay + Vision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083296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103120"/>
            <a:ext cx="1938528" cy="777240"/>
          </a:xfrm>
          <a:prstGeom prst="roundRect">
            <a:avLst>
              <a:gd name="adj" fmla="val 7059"/>
            </a:avLst>
          </a:prstGeom>
          <a:solidFill>
            <a:srgbClr val="E3F2F2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녹화·재생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2487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Relay + MinIO + Node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0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42032" y="2103120"/>
            <a:ext cx="1938528" cy="777240"/>
          </a:xfrm>
          <a:prstGeom prst="roundRect">
            <a:avLst>
              <a:gd name="adj" fmla="val 7059"/>
            </a:avLst>
          </a:prstGeom>
          <a:solidFill>
            <a:srgbClr val="FBEFD9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5176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배차·도로 통제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2487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 + Routing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913632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39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26864" y="2103120"/>
            <a:ext cx="1938528" cy="777240"/>
          </a:xfrm>
          <a:prstGeom prst="roundRect">
            <a:avLst>
              <a:gd name="adj" fmla="val 7059"/>
            </a:avLst>
          </a:prstGeom>
          <a:solidFill>
            <a:srgbClr val="E3F2F2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36592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배포·운영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736592" y="2487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Compose + Nginx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998464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154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비기능 요구 도출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4747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지연: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영상은 WebRTC, 추론은 DB COMMIT을 기다리지 않음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동기화: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순서가 아닌 원본 타임스탬프·PTS·QR 앵커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격리: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차량은 실제 위치·영상·녹화와 분리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보안: </a:t>
            </a:r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노출은 TLS 39001–39003, TURN 39004–39007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663440" y="3154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제약과 범위 제외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663440" y="34747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OSM 도로망 한정, 차량 프로필은 시연용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View는 Android 스트림 1개만 처리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SUMO, Tauri, Kafka/Redis, 실제 차량 재배정 제외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추론·단말 스트리밍은 실제 장비에서만 검증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유스케이스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액터 5개, 유스케이스 16개. 운영자는 조회자의, 관리자는 운영자의 권한을 상속한다.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E3F2F2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1887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E3F2F2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8745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E3F2F2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5603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조회자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3F5F6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2461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단말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1417320" cy="530352"/>
          </a:xfrm>
          <a:prstGeom prst="roundRect">
            <a:avLst>
              <a:gd name="adj" fmla="val 10345"/>
            </a:avLst>
          </a:prstGeom>
          <a:solidFill>
            <a:srgbClr val="F3F5F6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93192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BIMS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48840" y="1188720"/>
            <a:ext cx="1536192" cy="3291840"/>
          </a:xfrm>
          <a:prstGeom prst="roundRect">
            <a:avLst>
              <a:gd name="adj" fmla="val 3571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58568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기본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258568" y="1645920"/>
            <a:ext cx="13533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UC-01 로그인·내 정보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UC-02 차량 등록·삭제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UC-03 차량 정보 수정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UC-04 실시간 Fleet View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UC-05 텔레메트리 소스 전환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94760" y="1188720"/>
            <a:ext cx="1536192" cy="3291840"/>
          </a:xfrm>
          <a:prstGeom prst="roundRect">
            <a:avLst>
              <a:gd name="adj" fmla="val 3571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04488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운행·단말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904488" y="1645920"/>
            <a:ext cx="13533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UC-06 운행 생성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UC-07 경로·궤적 표시, 취소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UC-08 단말 운행 시작·종료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UC-09 영상·GPS/IMU 송출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0680" y="1188720"/>
            <a:ext cx="1536192" cy="3291840"/>
          </a:xfrm>
          <a:prstGeom prst="roundRect">
            <a:avLst>
              <a:gd name="adj" fmla="val 3571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50408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영상·녹화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550408" y="1645920"/>
            <a:ext cx="13533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UC-10 Live View 탐지·표시 설정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UC-11 녹화 동기화 재생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UC-12 녹화 영상 삭제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86600" y="1188720"/>
            <a:ext cx="1536192" cy="3291840"/>
          </a:xfrm>
          <a:prstGeom prst="roundRect">
            <a:avLst>
              <a:gd name="adj" fmla="val 3571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96328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배차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96328" y="1645920"/>
            <a:ext cx="13533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UC-13 시나리오·가상 차량 생성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UC-14 경로 미리보기→배차→수락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UC-15 정체/차단 구역과 재경로</a:t>
            </a:r>
            <a:endParaRPr lang="en-US" sz="10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UC-16 경유지·자동 추종·일시정지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148840" y="4572000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단말·BIMS는 UC-08·09 및 UC-04·05의 데이터를 공급한다. 전체 표는 부록 B.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시나리오: 영상·텔레메트리 송출 (UC-09)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사전조건: 단말에 IN_PROGRESS 운행이 있음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481328" cy="1600200"/>
          </a:xfrm>
          <a:prstGeom prst="roundRect">
            <a:avLst>
              <a:gd name="adj" fmla="val 3704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36192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116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SDP offer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3317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→ Nginx 39002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/offer/android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56816" y="2212848"/>
            <a:ext cx="164592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39696" y="1417320"/>
            <a:ext cx="1481328" cy="1600200"/>
          </a:xfrm>
          <a:prstGeom prst="roundRect">
            <a:avLst>
              <a:gd name="adj" fmla="val 3704"/>
            </a:avLst>
          </a:prstGeom>
          <a:solidFill>
            <a:srgbClr val="E3F2F2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49424" y="1536192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4942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49424" y="20116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검증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49424" y="23317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Relay → Node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recordings/validate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39312" y="2212848"/>
            <a:ext cx="164592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22192" y="1417320"/>
            <a:ext cx="1481328" cy="1600200"/>
          </a:xfrm>
          <a:prstGeom prst="roundRect">
            <a:avLst>
              <a:gd name="adj" fmla="val 3704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1536192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0116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분기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23317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H.264 → Vision 추론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60초 세그먼트 → MinIO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21808" y="2212848"/>
            <a:ext cx="164592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04688" y="1417320"/>
            <a:ext cx="1481328" cy="1600200"/>
          </a:xfrm>
          <a:prstGeom prst="roundRect">
            <a:avLst>
              <a:gd name="adj" fmla="val 3704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14416" y="1536192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1441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14416" y="20116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 등록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14416" y="23317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Relay → Node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recordings/segments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004304" y="2212848"/>
            <a:ext cx="164592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87184" y="1417320"/>
            <a:ext cx="1481328" cy="1600200"/>
          </a:xfrm>
          <a:prstGeom prst="roundRect">
            <a:avLst>
              <a:gd name="adj" fmla="val 3704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96912" y="1536192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9691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296912" y="20116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텔레메트리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296912" y="23317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 → Node (DB 저장)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GPS/IMU → Vision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337560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FBEFD9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39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규칙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372160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식별은 서버 기준: 페이로드의 trip/vehicle이 검증된 세션과 다르면 텔레메트리를 거부한다.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GPS fix만 저장(REPLAY→RECORDED_GPS, LIVE→DEVICE_GPS), IMU·화면 표시 위치는 저장하지 않는다.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Vision은 QR 앵커 + RTP PTS로 프레임의 원본 시각을 계산해 같은 세션의 GPS/IMU만 매칭한다.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시나리오: 가상 배차와 도로 통제 (UC-14, UC-15)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차량은 실제 영상·녹화·운행과 분리된 시뮬레이션이다.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UC-14 가상 배차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49047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차량·출발지·도착지·경유지 선택 → 경로 미리보기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02082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Node가 Routing에 스냅·A* 요청, route draft 저장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55117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배차 요청 → PENDING dispatch request 생성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099816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08152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수락 또는 자동 수락 타이머 → trip·route v1·state 생성, 즉시 주행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3931920" cy="777240"/>
          </a:xfrm>
          <a:prstGeom prst="roundRect">
            <a:avLst>
              <a:gd name="adj" fmla="val 7059"/>
            </a:avLst>
          </a:prstGeom>
          <a:solidFill>
            <a:srgbClr val="FBEFD9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749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예외: 거절·만료 시 REJECTED/EXPIRED, 차량 미예약.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수락은 경쟁 상황에서도 멱등 키로 정확히 한 번.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UC-15 도로 통제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508760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149047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HEAVY_PENALTY(정체, 가중치 1 초과 100 이하) 또는 BLOCKED(차단) 구역 그리기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039112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5488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2020824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 간선 미리보기 → 확정 시 restriction_revision 증가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569464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255117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추종 ON: 남은 경로 재계산 후 적용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099816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5488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257800" y="308152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추종 OFF: 정체는 무시, 차단 직전 BLOCKED_AWAITING_OPERATOR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703320"/>
            <a:ext cx="3931920" cy="777240"/>
          </a:xfrm>
          <a:prstGeom prst="roundRect">
            <a:avLst>
              <a:gd name="adj" fmla="val 7059"/>
            </a:avLst>
          </a:prstGeom>
          <a:solidFill>
            <a:srgbClr val="FBEFD9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92040" y="3749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예외: 차단 구역이 가상 차량이 있는 도로를 덮으면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요청을 409 ROAD_OCCUPIED로 거부.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요구사항 명세: 기능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 23개를 영역별로 요약 (전체 SR-F 표는 부록 C)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54864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 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인증·권한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SR-F-01~03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Argon2id 검증, RS256 JWT, ADMIN/OPERATOR/VIEWER 인가, bootstrap으로 서비스 주소 제공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차량·운행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SR-F-04, 08, 09, 11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출처·제원·카메라, PostGIS 도착지, DUAL/REPLAY_ONLY, 경로 버전, 단말 start/complete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추적·경로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SR-F-05~07, 10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3초 Fleet 갱신, 15초 GPS 지연 표시, 무중단 소스 전환, 제약 기반 시간 비용 A*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영상·탐지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SR-F-12~15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offer 전 세션 검증, GPS 멱등 저장, YOLO 분할 + ByteTrack + UniDepth, 클래스별 표시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녹화·재생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SR-F-16~18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60초 세그먼트 + 90kHz PTS, 300초 presigned URL, 탐지·GPS를 PTS에 맞춰 재생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 배차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SR-F-19~23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정확히 한 번 수락, 점유 도로 차단 거부, 차량별 자동 추종, 서버 측 시뮬레이션·체크포인트, 감사 이벤트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요구사항 명세: 비기능 · 인터페이스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수치는 코드 기본값이며 환경 변수로 조정할 수 있다.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2062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246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 큐 1(오래된 프레임 폐기), 프레임당 탐지 최대 100, 입력 최대 640px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신뢰성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 큐 512, Vision 큐 64, 초과 시 오래된 IMU부터 폐기, 가상 이벤트 버전 검사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TLS 39001–39003만 노출, /internal/* 서비스 토큰, MinIO 서비스별 정책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유지보수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 변경은 Prisma 마이그레이션과 ERD 문서를 함께 갱신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이식성·관찰성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Docker Compose 일괄 기동, 서비스별 health, /docs OpenAPI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097280"/>
          <a:ext cx="3840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인터페이스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프로토콜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관제 웹 ↔ Node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 REST + JWT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→ Relay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WebRTC (H.264, DataChannel), TURN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↔ Node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 /api/v1/device/*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↔ Vision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iframe, WebSocket, postMessage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Routing → BIMS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 폴링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→ 지도 타일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Nginx 프록시 /osm/, /basemap/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외부에는 Nginx와 TURN만 열리고, 실시간 영상은 Node를 거치지 않는다.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011680" y="1371600"/>
            <a:ext cx="41148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11680" y="2651760"/>
            <a:ext cx="41148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234440" y="2880360"/>
            <a:ext cx="0" cy="82296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11680" y="3931920"/>
            <a:ext cx="265176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663440" y="3520440"/>
            <a:ext cx="0" cy="41148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03320" y="1371600"/>
            <a:ext cx="41148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03320" y="2651760"/>
            <a:ext cx="41148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03320" y="3383280"/>
            <a:ext cx="41148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63240" y="3520440"/>
            <a:ext cx="0" cy="91440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4434840"/>
            <a:ext cx="420624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7269480" y="3520440"/>
            <a:ext cx="0" cy="91440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0" y="1371600"/>
            <a:ext cx="45720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9200" y="1600200"/>
            <a:ext cx="0" cy="18288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43600" y="2011680"/>
            <a:ext cx="45720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5029200" y="2880360"/>
            <a:ext cx="0" cy="18288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43600" y="3291840"/>
            <a:ext cx="45720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3913632" y="3200400"/>
            <a:ext cx="201168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913632" y="1481328"/>
            <a:ext cx="0" cy="1719072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13632" y="1481328"/>
            <a:ext cx="201168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43600" y="2651760"/>
            <a:ext cx="22860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6172200" y="1481328"/>
            <a:ext cx="0" cy="1170432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5943600" y="1481328"/>
            <a:ext cx="22860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7200" y="114300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2920" y="1143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웹 브라우저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Leaflet · Live View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24231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단말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· GPS/IMU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7033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2920" y="3703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Coturn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TURN 39004–39007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423160" y="1143000"/>
            <a:ext cx="1280160" cy="23774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423160" y="1216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Nginx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TLS 종단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532888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39001 관제 웹·API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39002 영상·단말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39003 녹화 재생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0" y="11430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E3F2F2"/>
          </a:solidFill>
          <a:ln w="25400">
            <a:solidFill>
              <a:srgbClr val="0F8B8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160520" y="1143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Node/Express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인증·운행·가상 배차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14800" y="17830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16052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Routing/Tracking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A* · BIMS 추적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114800" y="242316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16052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(FastAPI)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 · 깊이 · Live View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114800" y="30632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16052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 Relay (Go)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WebRTC · 녹화 분할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0" y="114300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46520" y="1143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PostGIS · 25 테이블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400800" y="178308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dash"/>
          </a:ln>
        </p:spPr>
      </p:sp>
      <p:sp>
        <p:nvSpPr>
          <p:cNvPr id="48" name="Text 46"/>
          <p:cNvSpPr txBox="1"/>
          <p:nvPr/>
        </p:nvSpPr>
        <p:spPr>
          <a:xfrm>
            <a:off x="644652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BIMS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버스 위치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400800" y="306324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4652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MinIO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녹화 세그먼트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3200400" y="37307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WebRTC 미디어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4572000" y="42245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녹화 재생 (presigned URL)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46177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강조: 영속 업무 데이터의 단일 소유자 · 점선: 외부 시스템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데이터 흐름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Relay와 Vision은 내부 API로 Node에 기록을 맡기고, 브라우저는 MinIO에서 영상을 직접 받는다.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63040"/>
                <a:gridCol w="3063240"/>
                <a:gridCol w="3383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출발 → 도착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→ Node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HTTPS 39001 /api/v1/*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로그인, 차량·운행·가상 배차 API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 → Routing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/internal/vehicles, /internal/routing/*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스냅샷, 스냅·A*·통제 간선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Routing → BIMS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HTTP 폴링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버스 실시간 위치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→ Relay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39002 /offer/android, WebRTC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H.264, telemetry-events, qr-events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Relay → Node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/internal/recordings/*, /internal/telemetry/*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검증, 세그먼트 등록, GPS 저장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Relay → MinIO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S3 API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60초 녹화 세그먼트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Relay → Vision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WebRTC 트랙, /internal/telemetry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 프레임, GPS/IMU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Vision → Node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/internal/recordings/detections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녹화 중 탐지 샘플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Routing → Relay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/internal/telemetry/vehicles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단말 현재 위치(BIMS와 병합)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↔ Vision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39002 iframe, /ws/playback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Live View 오버레이, 재생 탐지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→ MinIO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39003 presigned GET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녹화 영상 재생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→ Node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39002 /api/v1/device/*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배정 운행 조회·시작·종료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설계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출처, 경로 출처, 위치 출처는 서로 다른 개념이며 각각 별도 컬럼으로 구분한다.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514600"/>
                <a:gridCol w="4389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 값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출처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vehicle.vehicle_source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CUSTOM, BIMS, VIRTUAL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출처 / 유형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route.route_source / route_type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BIMS_LINE, OPTIMAL_PATH / INITIAL, RECALCULATED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 출처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vehicle_position.telemetry_source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BIMS_LIVE, BIMS_REPLAY, DEVICE_GPS, RECORDED_GPS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운행 상태 / 모드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trip.trip_status / route_mode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READY, IN_PROGRESS, PAUSED, COMPLETED, CANCELLED / DUAL, REPLAY_ONLY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 등급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detection_event.risk_level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NORMAL, CAUTION, DANGER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611880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36850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데이터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geography(…, 4326) 컬럼은 TypedSQL로만 읽고 쓴다.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42032" y="3611880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51760" y="36850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 저장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651760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GPS는 recording_session_id + source_timestamp_ns로 중복 제거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626864" y="3611880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36592" y="36850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시간축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736592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90kHz PTS + 릴레이 epoch·sequence, 탐지 샘플도 같은 축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711696" y="3611880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21424" y="36850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상태값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821424" y="39319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Prisma enum 대신 VARCHAR + DB CHECK 제약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ERD: 실제 운행 도메인 (15 테이블)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trip이 중심이며, 회색 점선 테이블은 스키마에만 있고 현재 코드에서 쓰지 않는다.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26280" y="1572768"/>
            <a:ext cx="0" cy="576072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1975104"/>
            <a:ext cx="41148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975104"/>
            <a:ext cx="0" cy="36576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2340864"/>
            <a:ext cx="41148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94960" y="2340864"/>
            <a:ext cx="64008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2834640" y="2514600"/>
            <a:ext cx="822960" cy="41148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2532888"/>
            <a:ext cx="0" cy="621792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2514600"/>
            <a:ext cx="640080" cy="64008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1380744"/>
            <a:ext cx="64008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1887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platform_account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계정·역할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0" y="118872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0332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vehicle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CUSTOM·BIMS·VIRTUAL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18872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80760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replay_preview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재생 데이터셋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178308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1783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0" y="2148840"/>
            <a:ext cx="1737360" cy="384048"/>
          </a:xfrm>
          <a:prstGeom prst="roundRect">
            <a:avLst>
              <a:gd name="adj" fmla="val 14286"/>
            </a:avLst>
          </a:prstGeom>
          <a:solidFill>
            <a:srgbClr val="E3F2F2"/>
          </a:solidFill>
          <a:ln w="25400">
            <a:solidFill>
              <a:srgbClr val="0F8B8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03320" y="2148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trip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(중심)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187452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26480" y="1920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26480" y="2130552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2130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trip_video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2560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trip_video_detection_sample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926080"/>
            <a:ext cx="23774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29718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경로·위치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3182112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31821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버전, geography LineString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3639312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36393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vehicle_position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GiST(location)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108960" y="3154680"/>
            <a:ext cx="2743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3200400" y="3200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이탈·알림 (미사용)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0" y="342900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F3F5F6"/>
          </a:solidFill>
          <a:ln w="12700">
            <a:solidFill>
              <a:srgbClr val="9AA5AB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3246120" y="34290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route_deviation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26280" y="3429000"/>
            <a:ext cx="1234440" cy="384048"/>
          </a:xfrm>
          <a:prstGeom prst="roundRect">
            <a:avLst>
              <a:gd name="adj" fmla="val 14286"/>
            </a:avLst>
          </a:prstGeom>
          <a:solidFill>
            <a:srgbClr val="F3F5F6"/>
          </a:solidFill>
          <a:ln w="12700">
            <a:solidFill>
              <a:srgbClr val="9AA5AB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4572000" y="34290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alert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0" y="3886200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F3F5F6"/>
          </a:solidFill>
          <a:ln w="12700">
            <a:solidFill>
              <a:srgbClr val="9AA5AB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3246120" y="3886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transport_goal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35040" y="315468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6126480" y="3200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이벤트 (미사용)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26480" y="342900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F3F5F6"/>
          </a:solidFill>
          <a:ln w="12700">
            <a:solidFill>
              <a:srgbClr val="9AA5AB"/>
            </a:solidFill>
            <a:prstDash val="dash"/>
          </a:ln>
        </p:spPr>
      </p:sp>
      <p:sp>
        <p:nvSpPr>
          <p:cNvPr id="47" name="Text 45"/>
          <p:cNvSpPr txBox="1"/>
          <p:nvPr/>
        </p:nvSpPr>
        <p:spPr>
          <a:xfrm>
            <a:off x="6172200" y="3429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object_class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406640" y="342900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F3F5F6"/>
          </a:solidFill>
          <a:ln w="12700">
            <a:solidFill>
              <a:srgbClr val="9AA5AB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7452360" y="3429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event_image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26480" y="3886200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F3F5F6"/>
          </a:solidFill>
          <a:ln w="12700">
            <a:solidFill>
              <a:srgbClr val="9AA5AB"/>
            </a:solidFill>
            <a:prstDash val="dash"/>
          </a:ln>
        </p:spPr>
      </p:sp>
      <p:sp>
        <p:nvSpPr>
          <p:cNvPr id="51" name="Text 49"/>
          <p:cNvSpPr txBox="1"/>
          <p:nvPr/>
        </p:nvSpPr>
        <p:spPr>
          <a:xfrm>
            <a:off x="6172200" y="3886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detection_event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45720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선은 1:N (trip 쪽이 1). 실시간 탐지 결과는 현재 trip_video_detection_sample에만 저장된다.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ERD: 가상 배차 도메인 (10 테이블)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배차는 왼쪽에서 오른쪽으로 진행되며, 실제 도메인과는 vehicle 테이블만 공유한다.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03120" y="1627632"/>
            <a:ext cx="27432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023360" y="1627632"/>
            <a:ext cx="27432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43600" y="1627632"/>
            <a:ext cx="27432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040880" y="1874520"/>
            <a:ext cx="0" cy="36576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040880" y="2743200"/>
            <a:ext cx="0" cy="22860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80160" y="1874520"/>
            <a:ext cx="0" cy="109728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80160" y="2377440"/>
            <a:ext cx="109728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2377440"/>
            <a:ext cx="0" cy="59436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6080760" y="1783080"/>
            <a:ext cx="13716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783080"/>
            <a:ext cx="0" cy="118872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137160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virtual_scenario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revision, 자동 수락 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7440" y="137160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2316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virtual_route_draft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미리보기 경로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137160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4340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dispatch_request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PENDING→ACCEPTED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137160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E3F2F2"/>
          </a:solidFill>
          <a:ln w="25400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1371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virtual_trip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주행 단위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24028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2240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virtual_route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버전별 간선 여정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97180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" y="2971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road_restriction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BLOCKED / HEAVY_PENALTY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94560" y="297180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40280" y="2971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operator_event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로그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297180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83480" y="2971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trip_waypoint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PENDING→REACHED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0" y="297180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20840" y="2971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virtual_vehicle_state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간선·offset·체크포인트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0" y="39319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3F5F6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0332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vehicle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VIRTUAL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0" y="39319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53212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vehicle_settings</a:t>
            </a:r>
            <a:endParaRPr lang="en-US" sz="12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차량별 자동 추종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120640" y="4187952"/>
            <a:ext cx="36576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389120" y="3703320"/>
            <a:ext cx="0" cy="22860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89120" y="3703320"/>
            <a:ext cx="3291840" cy="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7680960" y="3474720"/>
            <a:ext cx="0" cy="228600"/>
          </a:xfrm>
          <a:prstGeom prst="line">
            <a:avLst/>
          </a:prstGeom>
          <a:noFill/>
          <a:ln w="15875">
            <a:solidFill>
              <a:srgbClr val="9AA5AB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2103120" y="1143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배차 흐름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572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virtual_ 접두어 일부 생략. vehicle은 draft·request·trip에서도 참조된다.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컴포넌트: Node/Express 관제 백엔드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TypeScript · Express · Prisma 7(TypedSQL) · Zod. 계층: router → controller → service → repository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657600"/>
                <a:gridCol w="3566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인터페이스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로그인, JWT(RS256) 발급·검증, Argon2id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 /api/v1/auth/login, GET /auth/me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bootstrap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사용자에게 서비스 주소 제공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 /api/v1/bootstrap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vehicle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CRUD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/api/v1/vehicles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trip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운행 생성·취소·표시, 재생 미리보기, 도로 매칭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/api/v1/trips/*, /api/v1/device/*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tracking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Routing 스냅샷 프록시, 텔레메트리 모드, 운행 경로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/api/v1/tracking/*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telemetry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단말 GPS 저장(내부)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/internal/telemetry/gps, /validate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recording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녹화 세션 검증, 세그먼트·탐지 샘플 등록, 재생 URL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/internal/recordings/*, /api/v1/trips/:id/videos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virtual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시나리오·배차·통제·명령, 250ms 시뮬레이션 워커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/api/v1/virtual/* (24개)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없는 읽기 전용 데모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/api/v1/demo/*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컴포넌트: 그 밖의 서브시스템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서브시스템 간 공유 코드나 메시지 버스는 없다.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188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Routing/Tracking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26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· FastAPI :8000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664208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graph_backend: OSM 그래프, 트럭 프로필, 시간 비용 A*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bims_client · hybrid_bus: BIMS 폴링, 기록 보간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road_match · restriction_brush: 도로 매칭, 통제 간선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데이터: PBF 노드 482,310 · 제한 6,723 · 회전 890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55848" y="1188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 Relay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1426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 · Pion :39012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1664208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signaling: /offer/android, Node 세션 검증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broadcaster: 트랙 분배, 세션 identity 고정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recording: H.264 세그먼트, MinIO 업로드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telemetry: DataChannel 검증, Node·Vision 싱크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44768" y="1188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144768" y="14264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· FastAPI :39011 · GPU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1664208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yolo: 탐지·분할·ByteTrack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depth · monocular: UniDepth 거리 추정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source_timeline: QR 앵커·PTS로 원본 시각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playback: /ws/playback 재생 스트림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3017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웹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2552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Vanilla JS · Leaflet · /operator/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493008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 / VIRTUAL_DISPATCH 워크스페이스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fleet-view · live-map: 3초 폴링, 마커 보간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replay-timeline: 녹화 재생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virtual-dispatch · road-brush: 가상 배차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46120" y="292608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55848" y="3017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355848" y="32552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Kotlin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3355848" y="3493008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WebRtcPublisher: H.264 송출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DeviceTripClient: 운행 조회·시작·종료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telemetry: 실제 센서 또는 CSV 재생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QrSourceClock: 원본 시계 앵커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35040" y="292608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3F5F6"/>
          </a:solidFill>
          <a:ln w="12700">
            <a:solidFill>
              <a:srgbClr val="E1E6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44768" y="3017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144768" y="325526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Compose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144768" y="3493008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p4-db: PostGIS 17-3.5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p4-node-migrate: 기동 시 마이그레이션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p4-minio(+bootstrap): 버킷·정책</a:t>
            </a:r>
            <a:endParaRPr lang="en-US" sz="8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p4-nginx · p4-coturn: TLS, TURN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확인이 필요한 사항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작성 중 코드와 기존 설계 문서가 다르거나 결정이 필요한 부분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B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B5473A"/>
          </a:solidFill>
          <a:ln w="12700">
            <a:solidFill>
              <a:srgbClr val="B547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307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API에 인증이 없다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609344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/api/v1/device/*(운행 조회·시작·종료, 재생 미리보기 업로드)에 authenticate 미들웨어가 없다. 단말 토큰 인증을 보안 요구사항으로 추가할지 결정이 필요하다.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B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E39B2D"/>
          </a:solidFill>
          <a:ln w="12700">
            <a:solidFill>
              <a:srgbClr val="E39B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450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스키마만 있는 테이블 6개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752344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object_class, detection_event, event_image, route_deviation, alert, transport_goal은 어떤 Node 모듈도 쓰지 않는다. 경로 이탈·알림 기능을 구현할지, 정리할지 정해야 한다.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5DB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5935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위치가 계획과 다르다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895344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VIRTUAL_DISPATCH_OVERVIEW는 Python이 이동을 담당한다고 쓰지만, 실제로는 Node의 250ms 워커(virtual-simulation.worker.ts)가 수행한다. 계획 문서 갱신이 필요하다.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E1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사용자 요구사항 · B 유스케이스 · C 기능 요구사항 · D 테이블 명세 · E 배포 구성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요구사항 전체 목록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309360"/>
                <a:gridCol w="11887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UR-01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후 역할에 맞는 기능만 사용할 수 있어야 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UR-02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BIMS 버스, 자체 트럭, 가상 차량의 현재 위치를 하나의 지도에서 보고 싶다.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UR-03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차량별 계획 경로와 실제 이동 궤적을 비교하고 싶다.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UR-04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대형 화물차의 높이·중량·너비·회전 제한을 반영한 최적 경로를 받고 싶다.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UR-05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영상과 YOLO 탐지 결과(박스·분할·거리)를 보고 싶다.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UR-06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클래스별로 박스/분할 표시 방식을 선택하고 싶다.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UR-07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운행 영상을 녹화하고 탐지 결과·GPS와 동기화해 재생하고 싶다.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운영자, 조회자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UR-08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GPS가 끊기면 지연 상태를 알거나, 원하면 기록 경로로 보정하고 싶다.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UR-09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소스를 BIMS 실시간과 재생 데이터 사이에서 재시작 없이 전환하고 싶다.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UR-10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 차량의 경로를 미리 보고 모의 운전자에게 배차를 요청하고 싶다.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UR-11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정체 또는 차단 구역을 그리고 차량이 자동 우회하는지 보고 싶다.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UR-12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운행 중인 가상 차량에 경유지를 추가·변경하고 싶다.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UR-13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단말이 배정 운행을 받아 시작·종료하고 영상과 센서를 송출할 수 있어야 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UR-14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서버는 HTTPS로 노출되고 Docker Compose 한 번으로 기동되어야 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유스케이스 전체 목록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4160520"/>
                <a:gridCol w="1280160"/>
                <a:gridCol w="1188720"/>
                <a:gridCol w="914400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유스케이스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액터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역할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로그인하고 내 정보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사용자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VIEWER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등록·삭제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ADMIN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 정보 수정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OPERATOR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차량 지도(Fleet View)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VIEWER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02, 08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텔레메트리 소스 전환, 기록 보정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OPERATOR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08, 09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운행 생성(DUAL/REPLAY_ONLY)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OPERATOR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03, 04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운행 경로·궤적 표시 및 취소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OPERATOR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단말에서 배정 운행 조회·시작·종료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단말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영상·GPS/IMU 송출(WebRTC)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단말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05, 13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Live View 실시간 탐지·클래스별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VIEWER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05, 06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녹화 영상 목록 조회·동기화 재생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VIEWER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녹화 영상 삭제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OPERATOR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 시나리오·가상 차량 생성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OPERATOR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 경로 미리보기 → 배차 요청 → 수락/거절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OPERATOR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 통제 구역 설정과 재경로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OPERATOR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경유지·목적지 변경, 자동 추종, 일시정지/재개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운영자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OPERATOR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전체 목록 (1/2)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309360"/>
                <a:gridCol w="109728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ID·비밀번호(Argon2id)로 인증하고 RS256 JWT를 발급한다.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SR-F-02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관제 API는 ADMIN/OPERATOR/VIEWER 역할로 인가한다.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UC-01~16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/api/v1/bootstrap은 Live View URL 등 서비스 주소를 반환한다.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UC-01, 10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차량은 출처, 상태, 제원, 카메라 파라미터를 가진다.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UC-02, 03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SR-F-05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Fleet View는 BIMS와 단말 GPS를 합친 스냅샷을 3초마다 갱신한다.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SR-F-06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GPS가 15초보다 오래되면 'GPS 지연'을 표시하고, 기록 보정은 운영자가 켤 때만 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UC-04, 05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SR-F-07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텔레메트리 소스는 재시작 없이 전환되고 data/routing_state/에 영속된다.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SR-F-08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도착지는 geography(Point,4326), 경로 모드는 DUAL 또는 REPLAY_ONLY다.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SR-F-09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경로는 버전(INITIAL/RECALCULATED)을 가지며 운행당 현재 경로는 하나다.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UC-06, 07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SR-F-10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A*는 차량 제원, hgv/access, 공공·수동 제한, 회전 금지를 반영해 시간 비용을 최소화한다.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UC-06, 14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SR-F-11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단말은 /api/v1/device/vehicles/:id/trip으로 운행을 조회하고 start/complete한다.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SR-F-12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릴레이는 SDP offer 수락 전에 Node에서 trip·vehicle·녹화 세션을 검증한다.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전체 목록 (2/2)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309360"/>
                <a:gridCol w="109728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SR-F-13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단말 GPS는 vehicle_position에 멱등 저장하고 IMU는 저장하지 않는다.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SR-F-14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Vision은 YOLO 분할(yolo26s-seg) + ByteTrack + UniDepth 거리를 프레임과 함께 전달한다.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SR-F-15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클래스별 박스/분할 표시를 선택하고, 가장 최근 뷰어가 뷰어 슬롯을 차지한다.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SR-F-16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녹화는 60초 세그먼트로 MinIO에 저장하고 PTS·프레임 범위를 trip_video에 기록한다.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UC-09, 11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SR-F-17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재생 URL은 300초 유효한 presigned URL로 발급한다.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SR-F-18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재생 시 탐지 샘플과 GPS를 영상 PTS에 맞춰 표시한다.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SR-F-19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 배차 수락은 멱등 키로 정확히 한 번 처리되고 즉시 주행을 시작한다.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SR-F-20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점유 도로를 포함한 BLOCKED 구역은 409로 거부하고, 차단 간선 진입을 금지한다.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SR-F-21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추종은 차량별로 영속되며 OFF→ON 시 현재 위치에서 즉시 재계산한다.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SR-F-22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시뮬레이션은 서버에서 진행되고 재시작 시 마지막 체크포인트에서 복구한다.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UC-14~16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SR-F-23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배차·통제·명령은 virtual_operator_event에 감사 기록을 남긴다.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UC-13~16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명세: 실제 운행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2194560"/>
              </a:tblGrid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컬럼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제약·인덱스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platform_account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login_id, password_hash, role, is_active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login_id UNIQUE, role CHECK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vehicle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vehicle_code, vehicle_source, external_id, vehicle_status, 제원, 카메라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(vehicle_source, external_id) UNIQUE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driver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driver_name, license_number, driver_status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license_number UNIQUE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trip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vehicle_id, driver_id, origin/destination_location, trip_status, route_mode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route_mode CHECK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trip_id, route_version, route_type, route_source, route_line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운행당 현재 경로 1개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vehicle_position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location, speed, heading, telemetry_source, recording_session_id, source_timestamp_ns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(session, source_ts) UNIQUE, GiST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route_deviation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route_id, deviation_distance_m, location, recalculated_route_id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GiST(location)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object_class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model_class_id, class_name, warning_distance_m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detection_event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frame_id, class_id, confidence, distance_m, risk_level, bbox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GiST(location)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event_image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detection_event_id, image_url, captured_at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alert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alert_type, severity, alert_status, acknowledged_by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원인은 정확히 하나(CHECK)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transport_goal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goal_code, destination_location, priority, goal_status, target_eta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(status, eta) 인덱스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trip_video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recording_session_id, segment_index, object_key, start/end_pts_90k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object_key UNIQUE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trip_video_detection_sample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relay_epoch, frame_seq, video_pts_90k, detections(jsonb)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프레임당 1건 UNIQUE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replay_preview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vehicle_id, fingerprint, dataset_name, points(jsonb)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명세: 가상 배차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  <a:gridCol w="2194560"/>
              </a:tblGrid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컬럼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제약·인덱스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virtual_scenario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name, state, auto_accept_after_seconds, restriction_revision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수락 0–86400초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virtual_vehicle_settings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auto_follow_enabled, policy_version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vehicle 1:1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virtual_route_draft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selected_vehicle_id, waypoints, route_geojson, directed_itinerary, expires_at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virtual_dispatch_request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draft_id, state, accept_at, idempotency_key, revision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idempotency_key UNIQUE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virtual_trip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dispatch_request_id, state, active_route_id, route/command_version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dispatch_request_id UNIQUE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virtual_route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route_version, directed_itinerary, restriction_revision, reason, is_current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virtual_trip_waypoint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sequence, original/snapped_point, snapped_edge_id, status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(trip, status) 인덱스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virtual_vehicle_state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sim_status, current_edge_id, offset_m, speed_factor, last_position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virtual_trip_id UNIQUE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virtual_road_restriction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kind, geometry, affected_directed_edge_ids, penalty_factor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penalty 1 초과 100 이하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virtual_operator_event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scenario_id, virtual_trip_id, actor_id, event_type, payload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구성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docker-compose.prod.yml, 개발 docker-compose.dev.yml. 영속 데이터는 ./data 아래 서비스별 디렉터리.</a:t>
            </a:r>
            <a:endParaRPr lang="en-US" sz="11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1005840"/>
                <a:gridCol w="4206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내부 포트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노출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p4-nginx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39001–39003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TLS, 설정 deploy/nginx/nginx.conf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p4-coturn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39004–39007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TURN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p4-node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/operator/ 정적 파일, /docs OpenAPI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p4-node-migrate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기동 시 Prisma 마이그레이션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p4-routing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소스는 data/routing_state/에 영속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p4-vision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39011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 필요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p4-relay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39012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p4-db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5432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PostGIS 17-3.5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p4-minio / bootstrap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버킷과 서비스별 정책(node, relay) 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P4 통합 ITS 플랫폼 시스템 설계</dc:title>
  <dc:subject>PptxGenJS Presentation</dc:subject>
  <dc:creator>PptxGenJS</dc:creator>
  <cp:lastModifiedBy>PptxGenJS</cp:lastModifiedBy>
  <cp:revision>1</cp:revision>
  <dcterms:created xsi:type="dcterms:W3CDTF">2026-10-01T15:48:52Z</dcterms:created>
  <dcterms:modified xsi:type="dcterms:W3CDTF">2026-10-01T15:48:52Z</dcterms:modified>
</cp:coreProperties>
</file>